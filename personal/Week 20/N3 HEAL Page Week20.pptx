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5" r:id="rId2"/>
  </p:sldMasterIdLst>
  <p:notesMasterIdLst>
    <p:notesMasterId r:id="rId4"/>
  </p:notesMasterIdLst>
  <p:handoutMasterIdLst>
    <p:handoutMasterId r:id="rId5"/>
  </p:handoutMasterIdLst>
  <p:sldIdLst>
    <p:sldId id="1697" r:id="rId3"/>
  </p:sldIdLst>
  <p:sldSz cx="12192000" cy="6858000"/>
  <p:notesSz cx="6645275" cy="9775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F755AD-DFA8-4BD7-9F3F-BD24BB5C06B5}">
          <p14:sldIdLst/>
        </p14:section>
        <p14:section name="Eng" id="{9E9F65FE-BD7F-4AB5-BDAA-6D0D7E3E7258}">
          <p14:sldIdLst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Smit" initials="MS" lastIdx="1" clrIdx="0">
    <p:extLst>
      <p:ext uri="{19B8F6BF-5375-455C-9EA6-DF929625EA0E}">
        <p15:presenceInfo xmlns:p15="http://schemas.microsoft.com/office/powerpoint/2012/main" userId="S-1-5-21-2738270375-1332596784-1822595390-2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DD0184"/>
    <a:srgbClr val="FC34AB"/>
    <a:srgbClr val="00CC00"/>
    <a:srgbClr val="E9EBF5"/>
    <a:srgbClr val="00FF00"/>
    <a:srgbClr val="339933"/>
    <a:srgbClr val="CFD5EA"/>
    <a:srgbClr val="D6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32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864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D856F2D1-30CC-4702-9920-5C4AA13CCE8C}" type="datetimeFigureOut">
              <a:rPr lang="en-ZA" smtClean="0"/>
              <a:t>2025/11/16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864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D5D6B2EB-508E-4284-817C-C6B4EEB3790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36809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2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6C816668-045D-4A89-9E63-5B0E3CBE2ADC}" type="datetimeFigureOut">
              <a:rPr lang="en-ZA" smtClean="0"/>
              <a:t>2025/11/16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2375"/>
            <a:ext cx="5867400" cy="330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55" tIns="45627" rIns="91255" bIns="45627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8"/>
            <a:ext cx="5316220" cy="3849231"/>
          </a:xfrm>
          <a:prstGeom prst="rect">
            <a:avLst/>
          </a:prstGeom>
        </p:spPr>
        <p:txBody>
          <a:bodyPr vert="horz" lIns="91255" tIns="45627" rIns="91255" bIns="4562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2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CEB5EEEE-4384-40B0-93DA-631FD1C76CAA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83068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9F72BB-4468-4A06-A2D1-7C3EA5DA65D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2025/11/16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75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2D2AD-1E63-4177-B4AE-4B6658454808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2025/11/16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23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3F7747-C05A-40FD-B8BD-32741BAEECD0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2025/11/16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4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36012-1117-4B4D-BA4F-08D8C6D029F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2025/11/16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40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F7CD3-FCB9-4AAC-819F-6AD549EB6F13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2025/11/16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628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3DD486-1533-4ABF-AF5C-00B9CA26AF51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2025/11/16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2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A8F0B9-07C2-407B-A229-1FFF8B72CF2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2025/11/16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40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7A34F2-C09C-47D7-819B-8567BA6F37E2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2025/11/16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5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2490-3A86-4D5C-8282-C1782A9D6AE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2025/11/16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09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A9801C-6BF9-4C5C-989E-9373643D070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2025/11/16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02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0B402E-6CF9-465F-804C-0936A6B6601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2025/11/16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168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1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72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12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4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17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6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17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72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51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85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0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BA2CB5-FB29-4BCC-9A9D-2F6C008BD2BE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2025/11/16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72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NCBLKR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589"/>
            <a:ext cx="1296039" cy="81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457890"/>
              </p:ext>
            </p:extLst>
          </p:nvPr>
        </p:nvGraphicFramePr>
        <p:xfrm>
          <a:off x="104970" y="898128"/>
          <a:ext cx="11388911" cy="57118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6294">
                  <a:extLst>
                    <a:ext uri="{9D8B030D-6E8A-4147-A177-3AD203B41FA5}">
                      <a16:colId xmlns:a16="http://schemas.microsoft.com/office/drawing/2014/main" val="183856178"/>
                    </a:ext>
                  </a:extLst>
                </a:gridCol>
                <a:gridCol w="5992617">
                  <a:extLst>
                    <a:ext uri="{9D8B030D-6E8A-4147-A177-3AD203B41FA5}">
                      <a16:colId xmlns:a16="http://schemas.microsoft.com/office/drawing/2014/main" val="3550448731"/>
                    </a:ext>
                  </a:extLst>
                </a:gridCol>
              </a:tblGrid>
              <a:tr h="374403">
                <a:tc>
                  <a:txBody>
                    <a:bodyPr/>
                    <a:lstStyle/>
                    <a:p>
                      <a:r>
                        <a:rPr lang="en-ZA" sz="1800" b="1" dirty="0"/>
                        <a:t>Highlight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800" b="1" dirty="0"/>
                        <a:t>Lowlight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70639"/>
                  </a:ext>
                </a:extLst>
              </a:tr>
              <a:tr h="3371881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GB" sz="1200" b="1" dirty="0"/>
                        <a:t>Diesel Fleet Availability</a:t>
                      </a:r>
                      <a:r>
                        <a:rPr lang="en-GB" sz="1200" dirty="0"/>
                        <a:t>: Excellent diesel fleet performance for the week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b="1" dirty="0"/>
                        <a:t>Production Output</a:t>
                      </a:r>
                      <a:r>
                        <a:rPr lang="en-GB" sz="1200" dirty="0"/>
                        <a:t>: Continued positive trend in production output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GB" sz="1200" b="1" dirty="0"/>
                        <a:t>Work Attendance: </a:t>
                      </a:r>
                      <a:r>
                        <a:rPr lang="en-GB" sz="1200" b="0" dirty="0"/>
                        <a:t>Improved attendance the week </a:t>
                      </a:r>
                      <a:r>
                        <a:rPr lang="en-GB" sz="1200" b="1" dirty="0"/>
                        <a:t>(From 76  - 82 %).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Conveyor Belts: </a:t>
                      </a:r>
                      <a:r>
                        <a:rPr lang="en-GB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Completed rip detector installation on 60CV01 conveyor belt</a:t>
                      </a:r>
                      <a:r>
                        <a:rPr lang="en-GB" sz="1200" b="1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GB" sz="1200" b="1" dirty="0"/>
                        <a:t>HD Fleet Issues: </a:t>
                      </a:r>
                      <a:r>
                        <a:rPr lang="en-GB" sz="1200" b="0" dirty="0"/>
                        <a:t>New drifter failure (HD 0052) with seals leakages, HD 0069 Alternator failure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Conveyor Belts: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SAT TIP 1 -TIP 2 Hammer pedestal metal fatigue failure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Scalers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Minor accumulated breakdowns resulting in lower performances (First time in long period)</a:t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GB" sz="12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		</a:t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ZA" sz="12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08375"/>
                  </a:ext>
                </a:extLst>
              </a:tr>
              <a:tr h="374403">
                <a:tc>
                  <a:txBody>
                    <a:bodyPr/>
                    <a:lstStyle/>
                    <a:p>
                      <a:r>
                        <a:rPr lang="en-ZA" sz="1800" b="0" dirty="0"/>
                        <a:t>Emerging Issues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/>
                        <a:t>Priorities</a:t>
                      </a:r>
                      <a:endParaRPr lang="en-ZA" sz="1800" b="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739383"/>
                  </a:ext>
                </a:extLst>
              </a:tr>
              <a:tr h="1591212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="1" dirty="0"/>
                        <a:t>Implementation Pressure: </a:t>
                      </a:r>
                      <a:r>
                        <a:rPr lang="en-GB" sz="1200" dirty="0"/>
                        <a:t>Tight schedules required to make machines available for </a:t>
                      </a:r>
                      <a:r>
                        <a:rPr lang="en-GB" sz="1200" b="1" dirty="0"/>
                        <a:t>CAS Level 9 compliance</a:t>
                      </a:r>
                      <a:r>
                        <a:rPr lang="en-GB" sz="1200" dirty="0"/>
                        <a:t>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="1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Neurospec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12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Alternator replacement challenges on LD’s installations</a:t>
                      </a:r>
                      <a:endParaRPr lang="en-US" sz="12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GB" sz="1200" b="1" dirty="0"/>
                        <a:t>CAS L9 Implementation: </a:t>
                      </a:r>
                      <a:r>
                        <a:rPr lang="en-GB" sz="1200" dirty="0"/>
                        <a:t>Complete implementation to meet the </a:t>
                      </a:r>
                      <a:r>
                        <a:rPr lang="en-GB" sz="1200" b="1" dirty="0"/>
                        <a:t>December target date</a:t>
                      </a:r>
                      <a:r>
                        <a:rPr lang="en-GB" sz="1200" dirty="0"/>
                        <a:t>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Production: </a:t>
                      </a:r>
                      <a:r>
                        <a:rPr lang="en-GB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Maintain the current momentum to surpass set target for the month and to keep reducing the current annual deficit.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LD’s Availability</a:t>
                      </a:r>
                      <a:r>
                        <a:rPr lang="en-GB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accelerate delivery of new LD’s to assist with transportation challenges.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5872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75" y="82296"/>
            <a:ext cx="12188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High &amp; Low</a:t>
            </a:r>
          </a:p>
        </p:txBody>
      </p:sp>
    </p:spTree>
    <p:extLst>
      <p:ext uri="{BB962C8B-B14F-4D97-AF65-F5344CB8AC3E}">
        <p14:creationId xmlns:p14="http://schemas.microsoft.com/office/powerpoint/2010/main" val="200184146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144431</TotalTime>
  <Words>176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2_Office Theme</vt:lpstr>
      <vt:lpstr>Custom Design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Nigel Coetzee</dc:creator>
  <cp:lastModifiedBy>Sello Sease</cp:lastModifiedBy>
  <cp:revision>2428</cp:revision>
  <cp:lastPrinted>2024-05-14T13:45:52Z</cp:lastPrinted>
  <dcterms:created xsi:type="dcterms:W3CDTF">2019-02-12T06:39:46Z</dcterms:created>
  <dcterms:modified xsi:type="dcterms:W3CDTF">2025-11-16T05:22:27Z</dcterms:modified>
</cp:coreProperties>
</file>