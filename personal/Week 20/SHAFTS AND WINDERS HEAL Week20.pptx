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1041" r:id="rId5"/>
    <p:sldId id="1042" r:id="rId6"/>
    <p:sldId id="1043" r:id="rId7"/>
    <p:sldId id="1044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haft &amp; Winders" id="{22A2C13B-C7AC-4BB1-AAF6-D9A6AE719C11}">
          <p14:sldIdLst>
            <p14:sldId id="1041"/>
            <p14:sldId id="1042"/>
            <p14:sldId id="1043"/>
            <p14:sldId id="10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colm Smit" initials="MS" lastIdx="1" clrIdx="0">
    <p:extLst>
      <p:ext uri="{19B8F6BF-5375-455C-9EA6-DF929625EA0E}">
        <p15:presenceInfo xmlns:p15="http://schemas.microsoft.com/office/powerpoint/2012/main" userId="S-1-5-21-2738270375-1332596784-1822595390-2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CC00"/>
    <a:srgbClr val="1F4E78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006" autoAdjust="0"/>
  </p:normalViewPr>
  <p:slideViewPr>
    <p:cSldViewPr snapToGrid="0">
      <p:cViewPr varScale="1">
        <p:scale>
          <a:sx n="112" d="100"/>
          <a:sy n="112" d="100"/>
        </p:scale>
        <p:origin x="378" y="96"/>
      </p:cViewPr>
      <p:guideLst/>
    </p:cSldViewPr>
  </p:slideViewPr>
  <p:outlineViewPr>
    <p:cViewPr>
      <p:scale>
        <a:sx n="33" d="100"/>
        <a:sy n="33" d="100"/>
      </p:scale>
      <p:origin x="0" y="-75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38063" cy="466405"/>
          </a:xfrm>
          <a:prstGeom prst="rect">
            <a:avLst/>
          </a:prstGeom>
        </p:spPr>
        <p:txBody>
          <a:bodyPr vert="horz" lIns="91264" tIns="45631" rIns="91264" bIns="45631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670" y="1"/>
            <a:ext cx="3038063" cy="466405"/>
          </a:xfrm>
          <a:prstGeom prst="rect">
            <a:avLst/>
          </a:prstGeom>
        </p:spPr>
        <p:txBody>
          <a:bodyPr vert="horz" lIns="91264" tIns="45631" rIns="91264" bIns="45631" rtlCol="0"/>
          <a:lstStyle>
            <a:lvl1pPr algn="r">
              <a:defRPr sz="1200"/>
            </a:lvl1pPr>
          </a:lstStyle>
          <a:p>
            <a:fld id="{D856F2D1-30CC-4702-9920-5C4AA13CCE8C}" type="datetimeFigureOut">
              <a:rPr lang="en-ZA" smtClean="0"/>
              <a:t>2025/11/13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995"/>
            <a:ext cx="3038063" cy="466405"/>
          </a:xfrm>
          <a:prstGeom prst="rect">
            <a:avLst/>
          </a:prstGeom>
        </p:spPr>
        <p:txBody>
          <a:bodyPr vert="horz" lIns="91264" tIns="45631" rIns="91264" bIns="45631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670" y="8829995"/>
            <a:ext cx="3038063" cy="466405"/>
          </a:xfrm>
          <a:prstGeom prst="rect">
            <a:avLst/>
          </a:prstGeom>
        </p:spPr>
        <p:txBody>
          <a:bodyPr vert="horz" lIns="91264" tIns="45631" rIns="91264" bIns="45631" rtlCol="0" anchor="b"/>
          <a:lstStyle>
            <a:lvl1pPr algn="r">
              <a:defRPr sz="1200"/>
            </a:lvl1pPr>
          </a:lstStyle>
          <a:p>
            <a:fld id="{D5D6B2EB-508E-4284-817C-C6B4EEB3790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536809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4"/>
            <a:ext cx="3037840" cy="466434"/>
          </a:xfrm>
          <a:prstGeom prst="rect">
            <a:avLst/>
          </a:prstGeom>
        </p:spPr>
        <p:txBody>
          <a:bodyPr vert="horz" lIns="91264" tIns="45631" rIns="91264" bIns="45631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40" y="4"/>
            <a:ext cx="3037840" cy="466434"/>
          </a:xfrm>
          <a:prstGeom prst="rect">
            <a:avLst/>
          </a:prstGeom>
        </p:spPr>
        <p:txBody>
          <a:bodyPr vert="horz" lIns="91264" tIns="45631" rIns="91264" bIns="45631" rtlCol="0"/>
          <a:lstStyle>
            <a:lvl1pPr algn="r">
              <a:defRPr sz="1200"/>
            </a:lvl1pPr>
          </a:lstStyle>
          <a:p>
            <a:fld id="{6C816668-045D-4A89-9E63-5B0E3CBE2ADC}" type="datetimeFigureOut">
              <a:rPr lang="en-ZA" smtClean="0"/>
              <a:t>2025/11/13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64" tIns="45631" rIns="91264" bIns="45631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4"/>
            <a:ext cx="5608320" cy="3660457"/>
          </a:xfrm>
          <a:prstGeom prst="rect">
            <a:avLst/>
          </a:prstGeom>
        </p:spPr>
        <p:txBody>
          <a:bodyPr vert="horz" lIns="91264" tIns="45631" rIns="91264" bIns="456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264" tIns="45631" rIns="91264" bIns="45631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29968"/>
            <a:ext cx="3037840" cy="466434"/>
          </a:xfrm>
          <a:prstGeom prst="rect">
            <a:avLst/>
          </a:prstGeom>
        </p:spPr>
        <p:txBody>
          <a:bodyPr vert="horz" lIns="91264" tIns="45631" rIns="91264" bIns="45631" rtlCol="0" anchor="b"/>
          <a:lstStyle>
            <a:lvl1pPr algn="r">
              <a:defRPr sz="1200"/>
            </a:lvl1pPr>
          </a:lstStyle>
          <a:p>
            <a:fld id="{CEB5EEEE-4384-40B0-93DA-631FD1C76CA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783068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7417-43F4-E841-B983-6661E56E9A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6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9C1A8-A4C1-8E5A-FE88-A05CF909F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E9FFD-9A92-6984-74F2-7AD3D8071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F930E-3C82-4546-1CFB-29FB891AF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9DC61-E8AA-C082-BDB8-D1C6BEF20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7417-43F4-E841-B983-6661E56E9A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4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EAAE9-BFE1-F92C-D4C3-DD0CB0F45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F8DE0-147E-B4E9-DE40-285C2D176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27DDE-2AAC-41E2-1F07-AC5A7F690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C4475-8654-9FE3-927A-AA4499083F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7417-43F4-E841-B983-6661E56E9A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91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E0D15-F6EC-FE5F-5E99-794410013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823AA-C767-D897-0EF5-4E41A9309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9C1F5-645C-C737-48C4-5AB1A985E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1F8D3-D138-5C08-89C5-28633D44D2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7417-43F4-E841-B983-6661E56E9A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46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90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77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809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794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78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508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09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15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112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91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014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3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4">
            <a:extLst>
              <a:ext uri="{FF2B5EF4-FFF2-40B4-BE49-F238E27FC236}">
                <a16:creationId xmlns:a16="http://schemas.microsoft.com/office/drawing/2014/main" id="{CFE64CDF-0B31-4711-BC74-09D2C78E558B}"/>
              </a:ext>
            </a:extLst>
          </p:cNvPr>
          <p:cNvSpPr txBox="1">
            <a:spLocks/>
          </p:cNvSpPr>
          <p:nvPr/>
        </p:nvSpPr>
        <p:spPr>
          <a:xfrm>
            <a:off x="1246884" y="94584"/>
            <a:ext cx="10515600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 b="1"/>
            </a:lvl1pPr>
          </a:lstStyle>
          <a:p>
            <a:r>
              <a:rPr lang="en-GB" dirty="0"/>
              <a:t>SHAFTS &amp; WINDERS_HEAL</a:t>
            </a:r>
          </a:p>
        </p:txBody>
      </p:sp>
      <p:pic>
        <p:nvPicPr>
          <p:cNvPr id="5" name="Picture 4" descr="Logo - Black Rock Mine Operations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" y="94584"/>
            <a:ext cx="1329569" cy="79639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AD13AC-BFD1-BB60-DBAB-CE6453941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703147"/>
              </p:ext>
            </p:extLst>
          </p:nvPr>
        </p:nvGraphicFramePr>
        <p:xfrm>
          <a:off x="0" y="4811530"/>
          <a:ext cx="6736948" cy="2046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6948">
                  <a:extLst>
                    <a:ext uri="{9D8B030D-6E8A-4147-A177-3AD203B41FA5}">
                      <a16:colId xmlns:a16="http://schemas.microsoft.com/office/drawing/2014/main" val="574147226"/>
                    </a:ext>
                  </a:extLst>
                </a:gridCol>
              </a:tblGrid>
              <a:tr h="2046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You Can Help By</a:t>
                      </a:r>
                      <a:r>
                        <a:rPr lang="en-ZA" sz="1000" b="1" i="1" u="sng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ZA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Please provide an update on: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Adjustments (Package) for Shaft &amp; Winder Personnel to ensure Scares Skills are retained….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ZA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Please provide an update on: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Assist with Winder Permit Rectifications + Winder Exemptions to DMPR….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GB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Discuss and Motivate Memo for Shafts &amp; Winders Services Supervisor Position with EM</a:t>
                      </a:r>
                      <a:endParaRPr lang="en-ZA" sz="1000" b="0" i="1" u="none" kern="1200" baseline="0" dirty="0">
                        <a:solidFill>
                          <a:srgbClr val="0070C0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3292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DDA4A22-D066-739A-B6E7-578C9AABC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604" y="0"/>
            <a:ext cx="624396" cy="94049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6F081B5-AAB4-4865-E044-4B9AE7BA6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564392"/>
              </p:ext>
            </p:extLst>
          </p:nvPr>
        </p:nvGraphicFramePr>
        <p:xfrm>
          <a:off x="0" y="961482"/>
          <a:ext cx="6736948" cy="20551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6948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20551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Highlights: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BM Team Completed Replacement Bunton 13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1 x Rigger from </a:t>
                      </a:r>
                      <a:r>
                        <a:rPr lang="en-GB" sz="1050" b="1" i="1" kern="1200" baseline="0" noProof="0" dirty="0" err="1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Beeshoek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started on the 1</a:t>
                      </a:r>
                      <a:r>
                        <a:rPr lang="en-GB" sz="1050" b="1" i="1" kern="1200" baseline="3000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st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of November 2025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050" b="1" i="1" kern="1200" baseline="0" noProof="0" dirty="0">
                        <a:solidFill>
                          <a:srgbClr val="00B050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050" b="1" i="1" kern="1200" baseline="0" noProof="0" dirty="0">
                        <a:solidFill>
                          <a:srgbClr val="00B050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050" b="1" i="1" kern="1200" baseline="0" noProof="0" dirty="0">
                        <a:solidFill>
                          <a:srgbClr val="00B050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050" b="0" i="1" kern="1200" baseline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  <a:p>
                      <a:endParaRPr lang="en-ZA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3C6C19D-5C72-1840-2588-4898D11E0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758803"/>
              </p:ext>
            </p:extLst>
          </p:nvPr>
        </p:nvGraphicFramePr>
        <p:xfrm>
          <a:off x="0" y="3054943"/>
          <a:ext cx="6736948" cy="1474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6948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14743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i="1" u="sng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Emerging</a:t>
                      </a:r>
                      <a:r>
                        <a:rPr lang="en-ZA" sz="1050" b="1" i="1" u="sng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  <a:r>
                        <a:rPr lang="en-ZA" sz="1200" b="1" i="1" u="sng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Issues</a:t>
                      </a:r>
                      <a:r>
                        <a:rPr lang="en-ZA" sz="1050" b="1" i="1" u="sng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ZA" sz="1050" b="1" i="1" u="none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Low compliment of Fitters and Riggers in Mechanical Section is still putting pressure on the Section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ZA" sz="1050" b="1" i="1" u="none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Massive impact of providing full Maintenance of Changehouses of all 3 x Shafts….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ZA" sz="1050" b="1" i="1" u="none" kern="1200" baseline="0" dirty="0">
                        <a:solidFill>
                          <a:srgbClr val="FFC000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  <a:p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9E2F22E-30F5-4B1E-705A-DF05C07B0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054082"/>
              </p:ext>
            </p:extLst>
          </p:nvPr>
        </p:nvGraphicFramePr>
        <p:xfrm>
          <a:off x="6810998" y="961481"/>
          <a:ext cx="5381002" cy="338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81002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3383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i="1" u="sng" kern="1200" baseline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Lowlights</a:t>
                      </a:r>
                      <a:r>
                        <a:rPr lang="en-ZA" sz="1050" b="1" i="1" u="sng" kern="1200" baseline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Positions to be filled taking considerable time to complete: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1 x Rigger Ropesman: @ Recommendation Stage: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1 x </a:t>
                      </a:r>
                      <a:r>
                        <a:rPr lang="en-GB" sz="1100" b="0" i="1" kern="1200" baseline="0" noProof="0" dirty="0" err="1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WTFitter</a:t>
                      </a: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 @ Recommendation Stage: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1 x </a:t>
                      </a:r>
                      <a:r>
                        <a:rPr lang="en-GB" sz="1100" b="0" i="1" kern="1200" baseline="0" noProof="0" dirty="0" err="1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WTFitter</a:t>
                      </a: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 @ Re-Advertisement Stage: Not enough suitable Candidates identified…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41334FE-6FAC-1D66-B618-2FA79F941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894189"/>
              </p:ext>
            </p:extLst>
          </p:nvPr>
        </p:nvGraphicFramePr>
        <p:xfrm>
          <a:off x="6810997" y="4383883"/>
          <a:ext cx="5381003" cy="2474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81003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2474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i="1" u="sng" kern="1200" baseline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Priorities</a:t>
                      </a:r>
                      <a:r>
                        <a:rPr lang="en-ZA" sz="1050" b="1" i="1" u="sng" kern="1200" baseline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Shaft Repair Work with </a:t>
                      </a:r>
                      <a:r>
                        <a:rPr lang="en-GB" sz="1100" b="0" i="1" kern="1200" baseline="0" dirty="0" err="1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Solrock</a:t>
                      </a:r>
                      <a:r>
                        <a:rPr lang="en-GB" sz="1100" b="0" i="1" kern="1200" baseline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  <a:r>
                        <a:rPr lang="en-GB" sz="1100" b="0" i="1" kern="1200" baseline="0" dirty="0" err="1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Team_Weekend</a:t>
                      </a:r>
                      <a:r>
                        <a:rPr lang="en-GB" sz="1100" b="0" i="1" kern="1200" baseline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No.15 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Employee Engagement/Resignations Engagement with SGM: Busy with IDP’s sessions with Team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Assist with 3</a:t>
                      </a:r>
                      <a:r>
                        <a:rPr lang="en-GB" sz="1100" b="0" i="1" kern="1200" baseline="3000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rd</a:t>
                      </a: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Quarter Safety Campaign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Shaft Exam with Machinery Inspector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Upcoming Nch2 Shaft </a:t>
                      </a:r>
                      <a:r>
                        <a:rPr lang="en-GB" sz="1100" b="0" i="1" kern="1200" baseline="0" noProof="0" dirty="0" err="1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Scanning_Arranged</a:t>
                      </a: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by </a:t>
                      </a:r>
                      <a:r>
                        <a:rPr lang="en-GB" sz="1100" b="0" i="1" kern="1200" baseline="0" noProof="0" dirty="0" err="1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SolRock</a:t>
                      </a:r>
                      <a:endParaRPr lang="en-GB" sz="1100" b="0" i="1" kern="1200" baseline="0" noProof="0" dirty="0">
                        <a:solidFill>
                          <a:srgbClr val="7030A0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93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9572A-FC63-ED6C-36B9-670F7867A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4">
            <a:extLst>
              <a:ext uri="{FF2B5EF4-FFF2-40B4-BE49-F238E27FC236}">
                <a16:creationId xmlns:a16="http://schemas.microsoft.com/office/drawing/2014/main" id="{C330E5B5-D51D-50F2-1829-0A5AB880199F}"/>
              </a:ext>
            </a:extLst>
          </p:cNvPr>
          <p:cNvSpPr txBox="1">
            <a:spLocks/>
          </p:cNvSpPr>
          <p:nvPr/>
        </p:nvSpPr>
        <p:spPr>
          <a:xfrm>
            <a:off x="1246884" y="94584"/>
            <a:ext cx="10515600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 b="1"/>
            </a:lvl1pPr>
          </a:lstStyle>
          <a:p>
            <a:r>
              <a:rPr lang="en-GB" dirty="0"/>
              <a:t>SHAFTS &amp; WINDERS_HEAL</a:t>
            </a:r>
          </a:p>
        </p:txBody>
      </p:sp>
      <p:pic>
        <p:nvPicPr>
          <p:cNvPr id="5" name="Picture 4" descr="Logo - Black Rock Mine Operations">
            <a:extLst>
              <a:ext uri="{FF2B5EF4-FFF2-40B4-BE49-F238E27FC236}">
                <a16:creationId xmlns:a16="http://schemas.microsoft.com/office/drawing/2014/main" id="{4F661ADE-B53A-BCD4-C249-111FC9E87FD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" y="94584"/>
            <a:ext cx="1329569" cy="796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2A07FF-9DDB-ECDE-6CA9-2FAE6ADE3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604" y="0"/>
            <a:ext cx="624396" cy="94049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A5F8645-2E2F-1874-7AB9-7301F5580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921932"/>
              </p:ext>
            </p:extLst>
          </p:nvPr>
        </p:nvGraphicFramePr>
        <p:xfrm>
          <a:off x="-1" y="961481"/>
          <a:ext cx="12191999" cy="345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1999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3450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Highlights: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Annual Shaft Schedule on Par (Next 2 x Slides)</a:t>
                      </a:r>
                      <a:endParaRPr lang="en-GB" sz="1050" b="0" i="1" kern="1200" baseline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D2193E-1329-0BCE-1AD2-411176032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047744"/>
              </p:ext>
            </p:extLst>
          </p:nvPr>
        </p:nvGraphicFramePr>
        <p:xfrm>
          <a:off x="-1" y="1352732"/>
          <a:ext cx="2667000" cy="1093470"/>
        </p:xfrm>
        <a:graphic>
          <a:graphicData uri="http://schemas.openxmlformats.org/drawingml/2006/table">
            <a:tbl>
              <a:tblPr/>
              <a:tblGrid>
                <a:gridCol w="322241">
                  <a:extLst>
                    <a:ext uri="{9D8B030D-6E8A-4147-A177-3AD203B41FA5}">
                      <a16:colId xmlns:a16="http://schemas.microsoft.com/office/drawing/2014/main" val="4012735606"/>
                    </a:ext>
                  </a:extLst>
                </a:gridCol>
                <a:gridCol w="2344759">
                  <a:extLst>
                    <a:ext uri="{9D8B030D-6E8A-4147-A177-3AD203B41FA5}">
                      <a16:colId xmlns:a16="http://schemas.microsoft.com/office/drawing/2014/main" val="2594469365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JAN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93829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33273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EMT's/MRT's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44544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47472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DECEL TESTS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46934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5DD68F-DAB6-8B05-1AA4-F91CDF899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766636"/>
              </p:ext>
            </p:extLst>
          </p:nvPr>
        </p:nvGraphicFramePr>
        <p:xfrm>
          <a:off x="2666999" y="1352732"/>
          <a:ext cx="2781300" cy="2004060"/>
        </p:xfrm>
        <a:graphic>
          <a:graphicData uri="http://schemas.openxmlformats.org/drawingml/2006/table">
            <a:tbl>
              <a:tblPr/>
              <a:tblGrid>
                <a:gridCol w="390525">
                  <a:extLst>
                    <a:ext uri="{9D8B030D-6E8A-4147-A177-3AD203B41FA5}">
                      <a16:colId xmlns:a16="http://schemas.microsoft.com/office/drawing/2014/main" val="1337798325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32153843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FEB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09128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80933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NCH2_PW_BE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35891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71732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NCH3_PW_BE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2578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84629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NCH2_SHAFT_GUIDE REPL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24200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15144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NCH2_3-7LVL_CHUTE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8772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33B40EF-ED04-3586-C7F0-530D324AE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615983"/>
              </p:ext>
            </p:extLst>
          </p:nvPr>
        </p:nvGraphicFramePr>
        <p:xfrm>
          <a:off x="5448299" y="1352732"/>
          <a:ext cx="2476500" cy="3825240"/>
        </p:xfrm>
        <a:graphic>
          <a:graphicData uri="http://schemas.openxmlformats.org/drawingml/2006/table">
            <a:tbl>
              <a:tblPr/>
              <a:tblGrid>
                <a:gridCol w="392033">
                  <a:extLst>
                    <a:ext uri="{9D8B030D-6E8A-4147-A177-3AD203B41FA5}">
                      <a16:colId xmlns:a16="http://schemas.microsoft.com/office/drawing/2014/main" val="2335362085"/>
                    </a:ext>
                  </a:extLst>
                </a:gridCol>
                <a:gridCol w="2084467">
                  <a:extLst>
                    <a:ext uri="{9D8B030D-6E8A-4147-A177-3AD203B41FA5}">
                      <a16:colId xmlns:a16="http://schemas.microsoft.com/office/drawing/2014/main" val="822970865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MARCH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54403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00155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NCH2_SHAFT_GUIDE REPL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36881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682796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66077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0643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28126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41278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NCH2_RW_FE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23892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91298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70128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10498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99880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93820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GL_PW_DYNAMICS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33788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347072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9350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E7CD1B7-4A21-2B9E-489A-94C7119B9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792354"/>
              </p:ext>
            </p:extLst>
          </p:nvPr>
        </p:nvGraphicFramePr>
        <p:xfrm>
          <a:off x="7924798" y="1352732"/>
          <a:ext cx="3315857" cy="5505264"/>
        </p:xfrm>
        <a:graphic>
          <a:graphicData uri="http://schemas.openxmlformats.org/drawingml/2006/table">
            <a:tbl>
              <a:tblPr/>
              <a:tblGrid>
                <a:gridCol w="408667">
                  <a:extLst>
                    <a:ext uri="{9D8B030D-6E8A-4147-A177-3AD203B41FA5}">
                      <a16:colId xmlns:a16="http://schemas.microsoft.com/office/drawing/2014/main" val="2052941775"/>
                    </a:ext>
                  </a:extLst>
                </a:gridCol>
                <a:gridCol w="2907190">
                  <a:extLst>
                    <a:ext uri="{9D8B030D-6E8A-4147-A177-3AD203B41FA5}">
                      <a16:colId xmlns:a16="http://schemas.microsoft.com/office/drawing/2014/main" val="2831586568"/>
                    </a:ext>
                  </a:extLst>
                </a:gridCol>
              </a:tblGrid>
              <a:tr h="17830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800" b="1" i="0" u="none" strike="noStrike">
                          <a:effectLst/>
                          <a:latin typeface="Arial Narrow" panose="020B0606020202030204" pitchFamily="34" charset="0"/>
                        </a:rPr>
                        <a:t>APRIL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68452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62096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 dirty="0">
                          <a:effectLst/>
                          <a:latin typeface="Arial" panose="020B0604020202020204" pitchFamily="34" charset="0"/>
                        </a:rPr>
                        <a:t>EMT's/MRT's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163856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922333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DECEL TESTS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22679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013883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NCH2_REMOVE OLD CABLES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312335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503759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35241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236019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NCH2_PW_ANNUAL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01527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657845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NCH3_PW_ANNUAL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784341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465083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GL_PW_ANNUAL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621184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481191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NCH2_RW_ANNUAL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387893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468718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NCH2_PW_ANNUAL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814256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739039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NCH3_PW_ANNUAL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522060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084622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GL_PW_ANNUAL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264772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082321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 dirty="0">
                          <a:effectLst/>
                          <a:latin typeface="Arial" panose="020B0604020202020204" pitchFamily="34" charset="0"/>
                        </a:rPr>
                        <a:t>NCH2_RW_ANNUAL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71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08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D8D64-9986-90EE-C313-ECD80D0F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4">
            <a:extLst>
              <a:ext uri="{FF2B5EF4-FFF2-40B4-BE49-F238E27FC236}">
                <a16:creationId xmlns:a16="http://schemas.microsoft.com/office/drawing/2014/main" id="{C56596A3-DB6F-903A-66AA-B7D797FEDAD6}"/>
              </a:ext>
            </a:extLst>
          </p:cNvPr>
          <p:cNvSpPr txBox="1">
            <a:spLocks/>
          </p:cNvSpPr>
          <p:nvPr/>
        </p:nvSpPr>
        <p:spPr>
          <a:xfrm>
            <a:off x="1246884" y="94584"/>
            <a:ext cx="10515600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 b="1"/>
            </a:lvl1pPr>
          </a:lstStyle>
          <a:p>
            <a:r>
              <a:rPr lang="en-GB" dirty="0"/>
              <a:t>SHAFTS &amp; WINDERS_HEAL</a:t>
            </a:r>
          </a:p>
        </p:txBody>
      </p:sp>
      <p:pic>
        <p:nvPicPr>
          <p:cNvPr id="5" name="Picture 4" descr="Logo - Black Rock Mine Operations">
            <a:extLst>
              <a:ext uri="{FF2B5EF4-FFF2-40B4-BE49-F238E27FC236}">
                <a16:creationId xmlns:a16="http://schemas.microsoft.com/office/drawing/2014/main" id="{D0AA8554-8218-61CA-83B0-84863D1C246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" y="94584"/>
            <a:ext cx="1329569" cy="796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ADAC2B-98FA-3BAE-B0CB-B32B9AE30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604" y="0"/>
            <a:ext cx="624396" cy="94049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3FADA92-8DA0-96FA-1A13-EC81EC09E3A0}"/>
              </a:ext>
            </a:extLst>
          </p:cNvPr>
          <p:cNvGraphicFramePr>
            <a:graphicFrameLocks noGrp="1"/>
          </p:cNvGraphicFramePr>
          <p:nvPr/>
        </p:nvGraphicFramePr>
        <p:xfrm>
          <a:off x="-1" y="961481"/>
          <a:ext cx="12191999" cy="6179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1999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6179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Highlights: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Annual Shaft Schedule on Par (Next Slide)</a:t>
                      </a:r>
                      <a:endParaRPr lang="en-GB" sz="1050" b="0" i="1" kern="1200" baseline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1B5897-C66B-DCDA-D76F-021153AA4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925076"/>
              </p:ext>
            </p:extLst>
          </p:nvPr>
        </p:nvGraphicFramePr>
        <p:xfrm>
          <a:off x="0" y="1622814"/>
          <a:ext cx="2641600" cy="638175"/>
        </p:xfrm>
        <a:graphic>
          <a:graphicData uri="http://schemas.openxmlformats.org/drawingml/2006/table">
            <a:tbl>
              <a:tblPr/>
              <a:tblGrid>
                <a:gridCol w="390995">
                  <a:extLst>
                    <a:ext uri="{9D8B030D-6E8A-4147-A177-3AD203B41FA5}">
                      <a16:colId xmlns:a16="http://schemas.microsoft.com/office/drawing/2014/main" val="3472624739"/>
                    </a:ext>
                  </a:extLst>
                </a:gridCol>
                <a:gridCol w="2250605">
                  <a:extLst>
                    <a:ext uri="{9D8B030D-6E8A-4147-A177-3AD203B41FA5}">
                      <a16:colId xmlns:a16="http://schemas.microsoft.com/office/drawing/2014/main" val="2428666644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MAY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49883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12044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NCH2_SHAFT_GUIDE REPL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24384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9FD156-4E49-1038-1700-BFE83D936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36660"/>
              </p:ext>
            </p:extLst>
          </p:nvPr>
        </p:nvGraphicFramePr>
        <p:xfrm>
          <a:off x="2641600" y="1622814"/>
          <a:ext cx="2641600" cy="2459355"/>
        </p:xfrm>
        <a:graphic>
          <a:graphicData uri="http://schemas.openxmlformats.org/drawingml/2006/table">
            <a:tbl>
              <a:tblPr/>
              <a:tblGrid>
                <a:gridCol w="390995">
                  <a:extLst>
                    <a:ext uri="{9D8B030D-6E8A-4147-A177-3AD203B41FA5}">
                      <a16:colId xmlns:a16="http://schemas.microsoft.com/office/drawing/2014/main" val="3886463429"/>
                    </a:ext>
                  </a:extLst>
                </a:gridCol>
                <a:gridCol w="2250605">
                  <a:extLst>
                    <a:ext uri="{9D8B030D-6E8A-4147-A177-3AD203B41FA5}">
                      <a16:colId xmlns:a16="http://schemas.microsoft.com/office/drawing/2014/main" val="2123306569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JUNE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81525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53446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NCH2_PW_STATICS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01002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10311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NCH3_PW_STATICS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6188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94128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GL_PW_STATICS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84091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97306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NCH2_RW_STATICS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05406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11906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43200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88678D8-9DAD-8BB5-E21E-F904598D3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853220"/>
              </p:ext>
            </p:extLst>
          </p:nvPr>
        </p:nvGraphicFramePr>
        <p:xfrm>
          <a:off x="5283200" y="1622814"/>
          <a:ext cx="2844800" cy="1093470"/>
        </p:xfrm>
        <a:graphic>
          <a:graphicData uri="http://schemas.openxmlformats.org/drawingml/2006/table">
            <a:tbl>
              <a:tblPr/>
              <a:tblGrid>
                <a:gridCol w="321609">
                  <a:extLst>
                    <a:ext uri="{9D8B030D-6E8A-4147-A177-3AD203B41FA5}">
                      <a16:colId xmlns:a16="http://schemas.microsoft.com/office/drawing/2014/main" val="2207417383"/>
                    </a:ext>
                  </a:extLst>
                </a:gridCol>
                <a:gridCol w="2523191">
                  <a:extLst>
                    <a:ext uri="{9D8B030D-6E8A-4147-A177-3AD203B41FA5}">
                      <a16:colId xmlns:a16="http://schemas.microsoft.com/office/drawing/2014/main" val="3399687068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JULY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06711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2604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0133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947238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DECEL TESTS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6090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BA05058-611E-416F-B4B2-F3FC7840D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469288"/>
              </p:ext>
            </p:extLst>
          </p:nvPr>
        </p:nvGraphicFramePr>
        <p:xfrm>
          <a:off x="8128000" y="1622813"/>
          <a:ext cx="2844800" cy="638175"/>
        </p:xfrm>
        <a:graphic>
          <a:graphicData uri="http://schemas.openxmlformats.org/drawingml/2006/table">
            <a:tbl>
              <a:tblPr/>
              <a:tblGrid>
                <a:gridCol w="391399">
                  <a:extLst>
                    <a:ext uri="{9D8B030D-6E8A-4147-A177-3AD203B41FA5}">
                      <a16:colId xmlns:a16="http://schemas.microsoft.com/office/drawing/2014/main" val="81376411"/>
                    </a:ext>
                  </a:extLst>
                </a:gridCol>
                <a:gridCol w="2453401">
                  <a:extLst>
                    <a:ext uri="{9D8B030D-6E8A-4147-A177-3AD203B41FA5}">
                      <a16:colId xmlns:a16="http://schemas.microsoft.com/office/drawing/2014/main" val="1419125985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AUG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53496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99298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99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68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AFBD0-AA5A-2B8A-CC26-521FAC10F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4">
            <a:extLst>
              <a:ext uri="{FF2B5EF4-FFF2-40B4-BE49-F238E27FC236}">
                <a16:creationId xmlns:a16="http://schemas.microsoft.com/office/drawing/2014/main" id="{4F1CA407-CA9E-B67F-0B46-41EFD4068ED1}"/>
              </a:ext>
            </a:extLst>
          </p:cNvPr>
          <p:cNvSpPr txBox="1">
            <a:spLocks/>
          </p:cNvSpPr>
          <p:nvPr/>
        </p:nvSpPr>
        <p:spPr>
          <a:xfrm>
            <a:off x="1246884" y="94584"/>
            <a:ext cx="10515600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 b="1"/>
            </a:lvl1pPr>
          </a:lstStyle>
          <a:p>
            <a:r>
              <a:rPr lang="en-GB" dirty="0"/>
              <a:t>SHAFTS &amp; WINDERS_HEAL</a:t>
            </a:r>
          </a:p>
        </p:txBody>
      </p:sp>
      <p:pic>
        <p:nvPicPr>
          <p:cNvPr id="5" name="Picture 4" descr="Logo - Black Rock Mine Operations">
            <a:extLst>
              <a:ext uri="{FF2B5EF4-FFF2-40B4-BE49-F238E27FC236}">
                <a16:creationId xmlns:a16="http://schemas.microsoft.com/office/drawing/2014/main" id="{59E993F0-D6A0-663C-001D-4993697D9C4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" y="94584"/>
            <a:ext cx="1329569" cy="796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E3FF2C-6E3C-6795-2CB4-AA0960730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604" y="0"/>
            <a:ext cx="624396" cy="94049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48CADD8-8843-3B74-BEEE-DA05E314E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020406"/>
              </p:ext>
            </p:extLst>
          </p:nvPr>
        </p:nvGraphicFramePr>
        <p:xfrm>
          <a:off x="-1" y="961481"/>
          <a:ext cx="12191999" cy="6179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1999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6179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Highlights: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Annual Shaft Schedule on Par (Next Slide)_Depicting upcoming work for Nov2025 &amp; Dec2025</a:t>
                      </a:r>
                      <a:endParaRPr lang="en-GB" sz="1050" b="0" i="1" kern="1200" baseline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93FD54-A248-EBDF-AD0E-9F6BC45DF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454039"/>
              </p:ext>
            </p:extLst>
          </p:nvPr>
        </p:nvGraphicFramePr>
        <p:xfrm>
          <a:off x="0" y="1622813"/>
          <a:ext cx="2641600" cy="2033233"/>
        </p:xfrm>
        <a:graphic>
          <a:graphicData uri="http://schemas.openxmlformats.org/drawingml/2006/table">
            <a:tbl>
              <a:tblPr/>
              <a:tblGrid>
                <a:gridCol w="388192">
                  <a:extLst>
                    <a:ext uri="{9D8B030D-6E8A-4147-A177-3AD203B41FA5}">
                      <a16:colId xmlns:a16="http://schemas.microsoft.com/office/drawing/2014/main" val="3297222944"/>
                    </a:ext>
                  </a:extLst>
                </a:gridCol>
                <a:gridCol w="2253408">
                  <a:extLst>
                    <a:ext uri="{9D8B030D-6E8A-4147-A177-3AD203B41FA5}">
                      <a16:colId xmlns:a16="http://schemas.microsoft.com/office/drawing/2014/main" val="951720031"/>
                    </a:ext>
                  </a:extLst>
                </a:gridCol>
              </a:tblGrid>
              <a:tr h="18315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SEP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35179"/>
                  </a:ext>
                </a:extLst>
              </a:tr>
              <a:tr h="175524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987502"/>
                  </a:ext>
                </a:extLst>
              </a:tr>
              <a:tr h="280457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315539"/>
                  </a:ext>
                </a:extLst>
              </a:tr>
              <a:tr h="175524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6398"/>
                  </a:ext>
                </a:extLst>
              </a:tr>
              <a:tr h="280457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058020"/>
                  </a:ext>
                </a:extLst>
              </a:tr>
              <a:tr h="175524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761574"/>
                  </a:ext>
                </a:extLst>
              </a:tr>
              <a:tr h="280457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GL_PW_DYNAMICS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238384"/>
                  </a:ext>
                </a:extLst>
              </a:tr>
              <a:tr h="201678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422908"/>
                  </a:ext>
                </a:extLst>
              </a:tr>
              <a:tr h="280457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83331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2A6A78-3862-1D62-AAD1-6E21FCA16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070801"/>
              </p:ext>
            </p:extLst>
          </p:nvPr>
        </p:nvGraphicFramePr>
        <p:xfrm>
          <a:off x="2643336" y="1622813"/>
          <a:ext cx="2527300" cy="4374014"/>
        </p:xfrm>
        <a:graphic>
          <a:graphicData uri="http://schemas.openxmlformats.org/drawingml/2006/table">
            <a:tbl>
              <a:tblPr/>
              <a:tblGrid>
                <a:gridCol w="391016">
                  <a:extLst>
                    <a:ext uri="{9D8B030D-6E8A-4147-A177-3AD203B41FA5}">
                      <a16:colId xmlns:a16="http://schemas.microsoft.com/office/drawing/2014/main" val="2014603202"/>
                    </a:ext>
                  </a:extLst>
                </a:gridCol>
                <a:gridCol w="2136284">
                  <a:extLst>
                    <a:ext uri="{9D8B030D-6E8A-4147-A177-3AD203B41FA5}">
                      <a16:colId xmlns:a16="http://schemas.microsoft.com/office/drawing/2014/main" val="366055173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OCT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52482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4945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NCH3_PW_FE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1482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24235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16373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755938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GL_PW_FE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810904"/>
                  </a:ext>
                </a:extLst>
              </a:tr>
              <a:tr h="196796"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069609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38745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061469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0629"/>
                  </a:ext>
                </a:extLst>
              </a:tr>
              <a:tr h="191602"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562907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NCH3_PW_MRT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786845"/>
                  </a:ext>
                </a:extLst>
              </a:tr>
              <a:tr h="179532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20762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NCH2_PW_MRT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585427"/>
                  </a:ext>
                </a:extLst>
              </a:tr>
              <a:tr h="19662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561026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GL_PW_MRT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695216"/>
                  </a:ext>
                </a:extLst>
              </a:tr>
              <a:tr h="188079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563915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NCH2_RW_MRT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86204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32CB9C-B3F8-2DA0-7294-EC55749F3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435503"/>
              </p:ext>
            </p:extLst>
          </p:nvPr>
        </p:nvGraphicFramePr>
        <p:xfrm>
          <a:off x="5170636" y="1622813"/>
          <a:ext cx="2527300" cy="2964536"/>
        </p:xfrm>
        <a:graphic>
          <a:graphicData uri="http://schemas.openxmlformats.org/drawingml/2006/table">
            <a:tbl>
              <a:tblPr/>
              <a:tblGrid>
                <a:gridCol w="391016">
                  <a:extLst>
                    <a:ext uri="{9D8B030D-6E8A-4147-A177-3AD203B41FA5}">
                      <a16:colId xmlns:a16="http://schemas.microsoft.com/office/drawing/2014/main" val="2014603202"/>
                    </a:ext>
                  </a:extLst>
                </a:gridCol>
                <a:gridCol w="2136284">
                  <a:extLst>
                    <a:ext uri="{9D8B030D-6E8A-4147-A177-3AD203B41FA5}">
                      <a16:colId xmlns:a16="http://schemas.microsoft.com/office/drawing/2014/main" val="366055173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N</a:t>
                      </a:r>
                      <a:r>
                        <a:rPr lang="en-ZA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OV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52482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4945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NCH2_REPL_BUNTON 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1482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24235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16373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755938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NCH3_PW_LVL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786845"/>
                  </a:ext>
                </a:extLst>
              </a:tr>
              <a:tr h="179532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20762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585427"/>
                  </a:ext>
                </a:extLst>
              </a:tr>
              <a:tr h="19662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561026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GL_PW_LVL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695216"/>
                  </a:ext>
                </a:extLst>
              </a:tr>
              <a:tr h="188079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563915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8620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EF9EA1-6081-408A-AB5A-982CB46D9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315185"/>
              </p:ext>
            </p:extLst>
          </p:nvPr>
        </p:nvGraphicFramePr>
        <p:xfrm>
          <a:off x="7697936" y="1622813"/>
          <a:ext cx="2527300" cy="2050136"/>
        </p:xfrm>
        <a:graphic>
          <a:graphicData uri="http://schemas.openxmlformats.org/drawingml/2006/table">
            <a:tbl>
              <a:tblPr/>
              <a:tblGrid>
                <a:gridCol w="391016">
                  <a:extLst>
                    <a:ext uri="{9D8B030D-6E8A-4147-A177-3AD203B41FA5}">
                      <a16:colId xmlns:a16="http://schemas.microsoft.com/office/drawing/2014/main" val="2014603202"/>
                    </a:ext>
                  </a:extLst>
                </a:gridCol>
                <a:gridCol w="2136284">
                  <a:extLst>
                    <a:ext uri="{9D8B030D-6E8A-4147-A177-3AD203B41FA5}">
                      <a16:colId xmlns:a16="http://schemas.microsoft.com/office/drawing/2014/main" val="366055173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DEC</a:t>
                      </a:r>
                      <a:endParaRPr lang="en-ZA" sz="11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52482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4945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NCH3_PW_LVL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786845"/>
                  </a:ext>
                </a:extLst>
              </a:tr>
              <a:tr h="179532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20762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585427"/>
                  </a:ext>
                </a:extLst>
              </a:tr>
              <a:tr h="19662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561026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GL_PW_LVL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695216"/>
                  </a:ext>
                </a:extLst>
              </a:tr>
              <a:tr h="188079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563915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862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45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0dc006-a3f3-4d89-9e0a-bdb5fef8a08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38C0E7CDA6214984C77AA1B94F6B03" ma:contentTypeVersion="13" ma:contentTypeDescription="Create a new document." ma:contentTypeScope="" ma:versionID="6dedba3ec9fce0a8d971f33b5feccc9c">
  <xsd:schema xmlns:xsd="http://www.w3.org/2001/XMLSchema" xmlns:xs="http://www.w3.org/2001/XMLSchema" xmlns:p="http://schemas.microsoft.com/office/2006/metadata/properties" xmlns:ns3="b40dc006-a3f3-4d89-9e0a-bdb5fef8a087" xmlns:ns4="7292bd35-a1a6-4f41-92a3-d00a40427327" targetNamespace="http://schemas.microsoft.com/office/2006/metadata/properties" ma:root="true" ma:fieldsID="6fa91f4c09f4356fdc23a54a4779b4da" ns3:_="" ns4:_="">
    <xsd:import namespace="b40dc006-a3f3-4d89-9e0a-bdb5fef8a087"/>
    <xsd:import namespace="7292bd35-a1a6-4f41-92a3-d00a404273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0dc006-a3f3-4d89-9e0a-bdb5fef8a0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92bd35-a1a6-4f41-92a3-d00a4042732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A311CE-B80B-4692-8469-C4624795F9DE}">
  <ds:schemaRefs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b40dc006-a3f3-4d89-9e0a-bdb5fef8a087"/>
    <ds:schemaRef ds:uri="http://purl.org/dc/dcmitype/"/>
    <ds:schemaRef ds:uri="http://schemas.microsoft.com/office/2006/metadata/properties"/>
    <ds:schemaRef ds:uri="http://schemas.microsoft.com/office/infopath/2007/PartnerControls"/>
    <ds:schemaRef ds:uri="7292bd35-a1a6-4f41-92a3-d00a40427327"/>
  </ds:schemaRefs>
</ds:datastoreItem>
</file>

<file path=customXml/itemProps2.xml><?xml version="1.0" encoding="utf-8"?>
<ds:datastoreItem xmlns:ds="http://schemas.openxmlformats.org/officeDocument/2006/customXml" ds:itemID="{E8E1E25F-AF8A-4A48-9314-56EE4861EF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205387-FB2F-4151-9B2B-9A9829111F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0dc006-a3f3-4d89-9e0a-bdb5fef8a087"/>
    <ds:schemaRef ds:uri="7292bd35-a1a6-4f41-92a3-d00a404273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56931</TotalTime>
  <Words>631</Words>
  <Application>Microsoft Office PowerPoint</Application>
  <PresentationFormat>Widescreen</PresentationFormat>
  <Paragraphs>164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Narrow</vt:lpstr>
      <vt:lpstr>Calibri</vt:lpstr>
      <vt:lpstr>Calibri Light</vt:lpstr>
      <vt:lpstr>Trebuchet MS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Nigel Coetzee</dc:creator>
  <cp:lastModifiedBy>Xavier Petersen</cp:lastModifiedBy>
  <cp:revision>1420</cp:revision>
  <cp:lastPrinted>2023-09-11T05:07:00Z</cp:lastPrinted>
  <dcterms:created xsi:type="dcterms:W3CDTF">2019-02-12T06:39:46Z</dcterms:created>
  <dcterms:modified xsi:type="dcterms:W3CDTF">2025-11-14T04:55:30Z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0x010100B738C0E7CDA6214984C77AA1B94F6B03</vt:lpwstr>
  </property>
</Properties>
</file>